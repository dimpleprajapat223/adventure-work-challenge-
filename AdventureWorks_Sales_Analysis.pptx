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" y="-10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2011680"/>
            <a:ext cx="2560320" cy="2560320"/>
          </a:xfrm>
          <a:prstGeom prst="ellipse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0" y="5303520"/>
            <a:ext cx="548640" cy="548640"/>
          </a:xfrm>
          <a:prstGeom prst="ellipse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2"/>
                </a:solidFill>
                <a:latin typeface="Calibri"/>
              </a:rPr>
              <a:t>BUSINESS INTELLIGENCE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Adventure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8C7E8"/>
                </a:solidFill>
                <a:latin typeface="Calibri"/>
              </a:rPr>
              <a:t>Sales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A3C5"/>
                </a:solidFill>
                <a:latin typeface="Calibri"/>
              </a:rPr>
              <a:t>FY 2017–2020  |  B2B Sales Analytics  |  AdventureWorks 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943600" cy="36576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E6E8A"/>
                </a:solidFill>
                <a:latin typeface="Calibri"/>
              </a:rPr>
              <a:t>Prepared by: Data Analytics Team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Key Performance Indicators  |  FY 2017–2020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344168"/>
            <a:ext cx="1883663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344"/>
                </a:solidFill>
                <a:latin typeface="Calibri"/>
              </a:rPr>
              <a:t>$77.5M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947672"/>
            <a:ext cx="188366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Total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1488" y="1344168"/>
            <a:ext cx="1883663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344"/>
                </a:solidFill>
                <a:latin typeface="Calibri"/>
              </a:rPr>
              <a:t>$77.0M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947672"/>
            <a:ext cx="188366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Total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344168"/>
            <a:ext cx="1883663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344"/>
                </a:solidFill>
                <a:latin typeface="Calibri"/>
              </a:rPr>
              <a:t>$1.0M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47672"/>
            <a:ext cx="188366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Net Profit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7183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1344168"/>
            <a:ext cx="1883663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344"/>
                </a:solidFill>
                <a:latin typeface="Calibri"/>
              </a:rPr>
              <a:t>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1947672"/>
            <a:ext cx="188366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Profit Margin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54896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64624" y="1344168"/>
            <a:ext cx="1883663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344"/>
                </a:solidFill>
                <a:latin typeface="Calibri"/>
              </a:rPr>
              <a:t>3,616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1947672"/>
            <a:ext cx="188366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Total Orders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834640"/>
            <a:ext cx="11338560" cy="347472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898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48A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4"/>
                </a:solidFill>
                <a:latin typeface="Calibri"/>
              </a:rPr>
              <a:t>Revenue grew 202% from 2017→2018 and 34% from 2018→2019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739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739896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4"/>
                </a:solidFill>
                <a:latin typeface="Calibri"/>
              </a:rPr>
              <a:t>Bikes category dominates with 83% of total revenue ($64M)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142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142232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4"/>
                </a:solidFill>
                <a:latin typeface="Calibri"/>
              </a:rPr>
              <a:t>United States leads with $52M (67% of total) followed by Canada ($13.9M)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544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54456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4"/>
                </a:solidFill>
                <a:latin typeface="Calibri"/>
              </a:rPr>
              <a:t>Top performer: Linda Mitchell at $10.2M — 13% of all 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946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94690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4"/>
                </a:solidFill>
                <a:latin typeface="Calibri"/>
              </a:rPr>
              <a:t>Warehouse channel drives 48% of revenue ($37.4M)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34924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4"/>
                </a:solidFill>
                <a:latin typeface="Calibri"/>
              </a:rPr>
              <a:t>2020 shows a sharp -61% decline — requires further investigation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Revenue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Year-over-Year Sales Performance  |  FY 2017–2020</a:t>
            </a:r>
          </a:p>
        </p:txBody>
      </p:sp>
      <p:pic>
        <p:nvPicPr>
          <p:cNvPr id="7" name="Picture 6" descr="year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8580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14300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80960" y="1143000"/>
            <a:ext cx="54864" cy="80467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17957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B2"/>
                </a:solidFill>
                <a:latin typeface="Calibri"/>
              </a:rPr>
              <a:t>+201.5%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56362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Growth: 2017 →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075688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2075688"/>
            <a:ext cx="54864" cy="804672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11226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48A"/>
                </a:solidFill>
                <a:latin typeface="Calibri"/>
              </a:rPr>
              <a:t>+33.6%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9631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Growth: 2018 → 2019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008376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3008376"/>
            <a:ext cx="54864" cy="804672"/>
          </a:xfrm>
          <a:prstGeom prst="rect">
            <a:avLst/>
          </a:prstGeom>
          <a:solidFill>
            <a:srgbClr val="FF7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304495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7B2C"/>
                </a:solidFill>
                <a:latin typeface="Calibri"/>
              </a:rPr>
              <a:t>-61.1%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2900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Decline: 2019 → 2020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941064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0" y="3941064"/>
            <a:ext cx="54864" cy="804672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977640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344"/>
                </a:solidFill>
                <a:latin typeface="Calibri"/>
              </a:rPr>
              <a:t>$32.5M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36168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Peak Year: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* 2020 data appears partial (Jan–Jun) which explains the sharp decline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 Category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Revenue breakdown by product category and subcategory</a:t>
            </a:r>
          </a:p>
        </p:txBody>
      </p:sp>
      <p:pic>
        <p:nvPicPr>
          <p:cNvPr id="7" name="Picture 6" descr="categor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60281"/>
            <a:ext cx="502920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11430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4"/>
                </a:solidFill>
                <a:latin typeface="Calibri"/>
              </a:rPr>
              <a:t>Top Subcategories by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645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Road Bikes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45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48A"/>
                </a:solidFill>
                <a:latin typeface="Calibri"/>
              </a:rPr>
              <a:t>$28.7M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920240"/>
            <a:ext cx="6035040" cy="109728"/>
          </a:xfrm>
          <a:prstGeom prst="rect">
            <a:avLst/>
          </a:prstGeom>
          <a:solidFill>
            <a:srgbClr val="D1D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1920240"/>
            <a:ext cx="2702116" cy="10972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2304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Mountain Bikes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04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48A"/>
                </a:solidFill>
                <a:latin typeface="Calibri"/>
              </a:rPr>
              <a:t>$25.9M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578608"/>
            <a:ext cx="6035040" cy="109728"/>
          </a:xfrm>
          <a:prstGeom prst="rect">
            <a:avLst/>
          </a:prstGeom>
          <a:solidFill>
            <a:srgbClr val="D1D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2578608"/>
            <a:ext cx="2438495" cy="10972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29626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Touring Bikes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9626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48A"/>
                </a:solidFill>
                <a:latin typeface="Calibri"/>
              </a:rPr>
              <a:t>$9.5M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236976"/>
            <a:ext cx="6035040" cy="109728"/>
          </a:xfrm>
          <a:prstGeom prst="rect">
            <a:avLst/>
          </a:prstGeom>
          <a:solidFill>
            <a:srgbClr val="D1D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3236976"/>
            <a:ext cx="894428" cy="10972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36210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Mountain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621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48A"/>
                </a:solidFill>
                <a:latin typeface="Calibri"/>
              </a:rPr>
              <a:t>$4.5M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895344"/>
            <a:ext cx="6035040" cy="109728"/>
          </a:xfrm>
          <a:prstGeom prst="rect">
            <a:avLst/>
          </a:prstGeom>
          <a:solidFill>
            <a:srgbClr val="D1D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77840" y="3895344"/>
            <a:ext cx="423676" cy="10972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42793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Road 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793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48A"/>
                </a:solidFill>
                <a:latin typeface="Calibri"/>
              </a:rPr>
              <a:t>$3.7M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553712"/>
            <a:ext cx="6035040" cy="109728"/>
          </a:xfrm>
          <a:prstGeom prst="rect">
            <a:avLst/>
          </a:prstGeom>
          <a:solidFill>
            <a:srgbClr val="D1D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77840" y="4553712"/>
            <a:ext cx="348356" cy="10972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77840" y="5074920"/>
            <a:ext cx="621792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577840" y="5074920"/>
            <a:ext cx="54864" cy="14630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513892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4"/>
                </a:solidFill>
                <a:latin typeface="Calibri"/>
              </a:rPr>
              <a:t>📌 Category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48640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Bikes dominate with 83% of revenue.
Components add 14%, while Clothing &amp;
Accessories are growth opportunities.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Regional Sales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Revenue distribution by country and business channel</a:t>
            </a:r>
          </a:p>
        </p:txBody>
      </p:sp>
      <p:pic>
        <p:nvPicPr>
          <p:cNvPr id="7" name="Picture 6" descr="count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474720"/>
          </a:xfrm>
          <a:prstGeom prst="rect">
            <a:avLst/>
          </a:prstGeom>
        </p:spPr>
      </p:pic>
      <p:pic>
        <p:nvPicPr>
          <p:cNvPr id="8" name="Picture 7" descr="biz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188720"/>
            <a:ext cx="438912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4754880"/>
            <a:ext cx="2889504" cy="29260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" y="4782312"/>
            <a:ext cx="2816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4754880"/>
            <a:ext cx="1792224" cy="29260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478231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4754880"/>
            <a:ext cx="1060704" cy="292608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478231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065776"/>
            <a:ext cx="28895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4" y="5093208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United States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5065776"/>
            <a:ext cx="17922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00984" y="5093208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$52.0M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5065776"/>
            <a:ext cx="1060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9784" y="5093208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2"/>
                </a:solidFill>
                <a:latin typeface="Calibri"/>
              </a:rPr>
              <a:t>67.0%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49240"/>
            <a:ext cx="288950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5376672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Canada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5349240"/>
            <a:ext cx="179222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00984" y="5376672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$13.9M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5349240"/>
            <a:ext cx="106070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9784" y="5376672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2"/>
                </a:solidFill>
                <a:latin typeface="Calibri"/>
              </a:rPr>
              <a:t>17.9%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32703"/>
            <a:ext cx="28895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" y="5660136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France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5632703"/>
            <a:ext cx="17922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00984" y="5660136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$4.5M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5632703"/>
            <a:ext cx="1060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9784" y="5660136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2"/>
                </a:solidFill>
                <a:latin typeface="Calibri"/>
              </a:rPr>
              <a:t>5.8%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916167"/>
            <a:ext cx="288950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4904" y="5943599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United Kingdom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5916167"/>
            <a:ext cx="179222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00984" y="5943599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$3.9M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5916167"/>
            <a:ext cx="106070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9784" y="5943599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2"/>
                </a:solidFill>
                <a:latin typeface="Calibri"/>
              </a:rPr>
              <a:t>5.0%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199631"/>
            <a:ext cx="28895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4904" y="6227063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Germany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6199631"/>
            <a:ext cx="17922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00984" y="6227063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$1.9M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6199631"/>
            <a:ext cx="1060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29784" y="6227063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2"/>
                </a:solidFill>
                <a:latin typeface="Calibri"/>
              </a:rPr>
              <a:t>2.4%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483095"/>
            <a:ext cx="288950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510527"/>
            <a:ext cx="2816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Australia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6483095"/>
            <a:ext cx="179222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00984" y="6510527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2344"/>
                </a:solidFill>
                <a:latin typeface="Calibri"/>
              </a:rPr>
              <a:t>$1.4M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6483095"/>
            <a:ext cx="1060704" cy="27432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29784" y="6510527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2"/>
                </a:solidFill>
                <a:latin typeface="Calibri"/>
              </a:rPr>
              <a:t>1.8%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Channel Distribution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Warehouse: 48%  |  Value Added: 43%  |  Specialty: 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Salesperson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Top 6 sales representatives by revenue generated</a:t>
            </a:r>
          </a:p>
        </p:txBody>
      </p:sp>
      <p:pic>
        <p:nvPicPr>
          <p:cNvPr id="7" name="Picture 6" descr="sales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143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4"/>
                </a:solidFill>
                <a:latin typeface="Calibri"/>
              </a:rPr>
              <a:t>🏆 Top Performers Leaderboard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645920"/>
            <a:ext cx="4480560" cy="67665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9792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2C"/>
                </a:solidFill>
                <a:latin typeface="Calibr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190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4"/>
                </a:solidFill>
                <a:latin typeface="Calibri"/>
              </a:rPr>
              <a:t>Linda Mitchell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$10.2M  (13.1%)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359152"/>
            <a:ext cx="448056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9792" y="2423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323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Jillian Carson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249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$9.8M  (12.6%)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072384"/>
            <a:ext cx="448056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3136392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1455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Michael Blythe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438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$9.0M  (11.5%)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785616"/>
            <a:ext cx="448056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384962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587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Jae 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1513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$8.1M  (10.4%)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4498848"/>
            <a:ext cx="448056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792" y="456285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5720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Tsvi Reiter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8646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$7.0M  (9.0%)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5212080"/>
            <a:ext cx="448056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527608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#6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2852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4"/>
                </a:solidFill>
                <a:latin typeface="Calibri"/>
              </a:rPr>
              <a:t>Shu 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577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$6.3M  (8.1%)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Monthly Sales Trend — FY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Monthly revenue breakdown for peak year 2019</a:t>
            </a:r>
          </a:p>
        </p:txBody>
      </p:sp>
      <p:pic>
        <p:nvPicPr>
          <p:cNvPr id="7" name="Picture 6" descr="month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04672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4"/>
                </a:solidFill>
                <a:latin typeface="Calibri"/>
              </a:rPr>
              <a:t>📊 2019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691640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96528" y="172821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48A"/>
                </a:solidFill>
                <a:latin typeface="Calibri"/>
              </a:rPr>
              <a:t>📅 Peak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98424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344"/>
                </a:solidFill>
                <a:latin typeface="Calibri"/>
              </a:rPr>
              <a:t>August: $4.3M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2313432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96528" y="235000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48A"/>
                </a:solidFill>
                <a:latin typeface="Calibri"/>
              </a:rPr>
              <a:t>📅 Low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60604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F2344"/>
                </a:solidFill>
                <a:latin typeface="Calibri"/>
              </a:rPr>
              <a:t>January: $1.3M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935224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96528" y="297180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48A"/>
                </a:solidFill>
                <a:latin typeface="Calibri"/>
              </a:rPr>
              <a:t>📈 H2 vs 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322783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344"/>
                </a:solidFill>
                <a:latin typeface="Calibri"/>
              </a:rPr>
              <a:t>H2 was +18% stronger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557016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96528" y="359359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48A"/>
                </a:solidFill>
                <a:latin typeface="Calibri"/>
              </a:rPr>
              <a:t>📊 Avg/Month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384962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344"/>
                </a:solidFill>
                <a:latin typeface="Calibri"/>
              </a:rPr>
              <a:t>$2.7M monthly avg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4178808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96528" y="421538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48A"/>
                </a:solidFill>
                <a:latin typeface="Calibri"/>
              </a:rPr>
              <a:t>💡 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447141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344"/>
                </a:solidFill>
                <a:latin typeface="Calibri"/>
              </a:rPr>
              <a:t>Strong Q3–Q4 surge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00600"/>
            <a:ext cx="116128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2019 Quarterly Breakdown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2651760" cy="91440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303520"/>
            <a:ext cx="54864" cy="9144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367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8A"/>
                </a:solidFill>
                <a:latin typeface="Calibri"/>
              </a:rPr>
              <a:t>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692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4"/>
                </a:solidFill>
                <a:latin typeface="Calibri"/>
              </a:rPr>
              <a:t>$5.3M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89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+18% YoY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5303520"/>
            <a:ext cx="2651760" cy="91440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37560" y="5303520"/>
            <a:ext cx="54864" cy="9144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0" y="5367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8A"/>
                </a:solidFill>
                <a:latin typeface="Calibri"/>
              </a:rPr>
              <a:t>Q2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6692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4"/>
                </a:solidFill>
                <a:latin typeface="Calibri"/>
              </a:rPr>
              <a:t>$6.7M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989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+22% YoY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303520"/>
            <a:ext cx="2651760" cy="91440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303520"/>
            <a:ext cx="54864" cy="9144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5367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8A"/>
                </a:solidFill>
                <a:latin typeface="Calibri"/>
              </a:rPr>
              <a:t>Q3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6692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4"/>
                </a:solidFill>
                <a:latin typeface="Calibri"/>
              </a:rPr>
              <a:t>$11.2M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989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Peak quarter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5303520"/>
            <a:ext cx="2651760" cy="914400"/>
          </a:xfrm>
          <a:prstGeom prst="rect">
            <a:avLst/>
          </a:prstGeom>
          <a:solidFill>
            <a:srgbClr val="ED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98280" y="5303520"/>
            <a:ext cx="54864" cy="9144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5440" y="5367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48A"/>
                </a:solidFill>
                <a:latin typeface="Calibri"/>
              </a:rPr>
              <a:t>Q4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6692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4"/>
                </a:solidFill>
                <a:latin typeface="Calibri"/>
              </a:rPr>
              <a:t>$9.3M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989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Strong close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2"/>
                </a:solidFill>
                <a:latin typeface="Calibri"/>
              </a:rPr>
              <a:t>Data-driven actions to drive growth and optimize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1600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252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🎯  Diversify Product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61848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Clothing (2.2%) and Accessories (0.7%) are heavily under-monetized. Launch targeted promotions and bundle strategies to grow non-Bikes revenue to 25%+ within 2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718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971800"/>
            <a:ext cx="54864" cy="1600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30815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🌍  Expand into Emerging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44728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Germany (2.4%) and Australia (1.8%) show low penetration despite strong bike culture. Targeted go-to-market plans with local reseller partnerships could unlock $5M+ in additional revenue.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006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800600"/>
            <a:ext cx="54864" cy="1600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🤝  Grow Specialty Bike Shop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527608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Only 9% of revenue comes from Specialty shops, which command higher margins. Strengthening these relationships with exclusive products and incentive programs could shift channel mix.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11430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1143000"/>
            <a:ext cx="54864" cy="1600200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1" y="1252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📊  Investigate 2020 Revenue Drop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161848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61% year-over-year decline warrants a full post-mortem — check if data is partial, or if macro / competitive factors are at play. Ensure CRM data completeness.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9718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59" y="2971800"/>
            <a:ext cx="54864" cy="1600200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1" y="30815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👥  Accelerate Top-Performer Learnings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1" y="344728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Linda Mitchell and Jillian Carson collectively drive 25% of revenue. Document their sales playbooks, identify coaching opportunities for mid-tier reps, and close the performance gap.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8006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59" y="4800600"/>
            <a:ext cx="54864" cy="1600200"/>
          </a:xfrm>
          <a:prstGeom prst="rect">
            <a:avLst/>
          </a:prstGeom>
          <a:solidFill>
            <a:srgbClr val="1A5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1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4"/>
                </a:solidFill>
                <a:latin typeface="Calibri"/>
              </a:rPr>
              <a:t>🔄  Investigate Margin Pressure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527608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net margin of just 1.3% on $77.5M revenue is critically thin. A granular cost analysis by product and channel is urgently needed to protect profitability.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2560320"/>
            <a:ext cx="2011680" cy="2011680"/>
          </a:xfrm>
          <a:prstGeom prst="ellipse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502920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A3C5"/>
                </a:solidFill>
                <a:latin typeface="Calibri"/>
              </a:rPr>
              <a:t>Adventure Works  |  Sales Analytics Report  |  FY 2017–2020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E6E8A"/>
                </a:solidFill>
                <a:latin typeface="Calibri"/>
              </a:rPr>
              <a:t>Data Source: </a:t>
            </a:r>
            <a:r>
              <a:rPr sz="1200" b="0" i="0" dirty="0" err="1">
                <a:solidFill>
                  <a:srgbClr val="4E6E8A"/>
                </a:solidFill>
                <a:latin typeface="Calibri"/>
              </a:rPr>
              <a:t>AdventureWorks</a:t>
            </a:r>
            <a:r>
              <a:rPr sz="1200" b="0" i="0" dirty="0">
                <a:solidFill>
                  <a:srgbClr val="4E6E8A"/>
                </a:solidFill>
                <a:latin typeface="Calibri"/>
              </a:rPr>
              <a:t> B2B Dataset
Prepared by: Data Analytics Team  |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2B2"/>
                </a:solidFill>
                <a:latin typeface="Calibri"/>
              </a:rPr>
              <a:t>57,851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A3C5"/>
                </a:solidFill>
                <a:latin typeface="Calibri"/>
              </a:rPr>
              <a:t>Sales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394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2B2"/>
                </a:solidFill>
                <a:latin typeface="Calibri"/>
              </a:rPr>
              <a:t>3,616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A3C5"/>
                </a:solidFill>
                <a:latin typeface="Calibri"/>
              </a:rPr>
              <a:t>Unique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94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2B2"/>
                </a:solidFill>
                <a:latin typeface="Calibri"/>
              </a:rPr>
              <a:t>701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A3C5"/>
                </a:solidFill>
                <a:latin typeface="Calibri"/>
              </a:rPr>
              <a:t>Active Resellers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394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2B2"/>
                </a:solidFill>
                <a:latin typeface="Calibri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A3C5"/>
                </a:solidFill>
                <a:latin typeface="Calibri"/>
              </a:rPr>
              <a:t>Sales Reps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727</Words>
  <Application>Microsoft Office PowerPoint</Application>
  <PresentationFormat>Custom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dimple prajapat</cp:lastModifiedBy>
  <cp:revision>2</cp:revision>
  <dcterms:created xsi:type="dcterms:W3CDTF">2013-01-27T09:14:16Z</dcterms:created>
  <dcterms:modified xsi:type="dcterms:W3CDTF">2026-05-28T06:17:38Z</dcterms:modified>
  <cp:category/>
</cp:coreProperties>
</file>